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1C918C"/>
            </a:solidFill>
            <a:ln>
              <a:solidFill>
                <a:srgbClr val="1C918C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Walk-in</c:v>
                </c:pt>
                <c:pt idx="1">
                  <c:v>Corporate Portal</c:v>
                </c:pt>
                <c:pt idx="2">
                  <c:v>Travel Agent</c:v>
                </c:pt>
                <c:pt idx="3">
                  <c:v>Website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133.21</c:v>
                </c:pt>
                <c:pt idx="1">
                  <c:v>132.01</c:v>
                </c:pt>
                <c:pt idx="2">
                  <c:v>130.55000000000001</c:v>
                </c:pt>
                <c:pt idx="3">
                  <c:v>130.18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C918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8EC-4F50-9A7F-F002ED4110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1C918C"/>
            </a:solidFill>
            <a:ln>
              <a:solidFill>
                <a:srgbClr val="1C918C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Individual</c:v>
                </c:pt>
                <c:pt idx="1">
                  <c:v>Corporate</c:v>
                </c:pt>
                <c:pt idx="2">
                  <c:v>Group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177.79</c:v>
                </c:pt>
                <c:pt idx="1">
                  <c:v>176.81</c:v>
                </c:pt>
                <c:pt idx="2">
                  <c:v>171.36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C918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749-4D47-B8F1-2268D4B27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(%)</c:v>
                </c:pt>
              </c:strCache>
            </c:strRef>
          </c:tx>
          <c:spPr>
            <a:solidFill>
              <a:srgbClr val="BE4D4D"/>
            </a:solidFill>
            <a:ln>
              <a:solidFill>
                <a:srgbClr val="BE4D4D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Grand Palace</c:v>
                </c:pt>
                <c:pt idx="1">
                  <c:v>Royal Residency</c:v>
                </c:pt>
                <c:pt idx="2">
                  <c:v>City View</c:v>
                </c:pt>
                <c:pt idx="3">
                  <c:v>Seaside Resort</c:v>
                </c:pt>
                <c:pt idx="4">
                  <c:v>The Heritage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15.08</c:v>
                </c:pt>
                <c:pt idx="1">
                  <c:v>14.3</c:v>
                </c:pt>
                <c:pt idx="2">
                  <c:v>14.16</c:v>
                </c:pt>
                <c:pt idx="3">
                  <c:v>13.6</c:v>
                </c:pt>
                <c:pt idx="4">
                  <c:v>13.04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E4D4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A03-4465-88F3-3B873535B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7240" y="1143000"/>
            <a:ext cx="7132320" cy="1645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HOTEL BOOKING
&amp; REVENUE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658368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0">
                <a:solidFill>
                  <a:srgbClr val="D2DCEB"/>
                </a:solidFill>
                <a:latin typeface="Aptos"/>
              </a:rPr>
              <a:t>Business insights and recommendations from 19,982 booking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68580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dirty="0">
                <a:solidFill>
                  <a:srgbClr val="ECB148"/>
                </a:solidFill>
                <a:latin typeface="Aptos"/>
              </a:rPr>
              <a:t>TOOLS  |  Microsoft Excel  •  SQL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BECDE1"/>
                </a:solidFill>
                <a:latin typeface="Aptos"/>
              </a:rPr>
              <a:t>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A snapshot of revenue, bookings, and booking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141732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212848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647080"/>
                </a:solidFill>
                <a:latin typeface="Aptos"/>
              </a:rPr>
              <a:t>BOOKINGS ANALYZED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221284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>
                <a:solidFill>
                  <a:srgbClr val="18274B"/>
                </a:solidFill>
                <a:latin typeface="Aptos"/>
              </a:rPr>
              <a:t>19,982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828800"/>
            <a:ext cx="73152" cy="1417320"/>
          </a:xfrm>
          <a:prstGeom prst="rect">
            <a:avLst/>
          </a:prstGeom>
          <a:solidFill>
            <a:srgbClr val="EC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975104"/>
            <a:ext cx="2212848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647080"/>
                </a:solidFill>
                <a:latin typeface="Aptos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304288"/>
            <a:ext cx="221284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>
                <a:solidFill>
                  <a:srgbClr val="18274B"/>
                </a:solidFill>
                <a:latin typeface="Aptos"/>
              </a:rPr>
              <a:t>₹525.95M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73152" cy="1417320"/>
          </a:xfrm>
          <a:prstGeom prst="rect">
            <a:avLst/>
          </a:prstGeom>
          <a:solidFill>
            <a:srgbClr val="BE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975104"/>
            <a:ext cx="2212848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647080"/>
                </a:solidFill>
                <a:latin typeface="Aptos"/>
              </a:rPr>
              <a:t>CANCELLATION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304288"/>
            <a:ext cx="221284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>
                <a:solidFill>
                  <a:srgbClr val="18274B"/>
                </a:solidFill>
                <a:latin typeface="Aptos"/>
              </a:rPr>
              <a:t>14.04%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828800"/>
            <a:ext cx="73152" cy="141732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8" y="1975104"/>
            <a:ext cx="1984248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647080"/>
                </a:solidFill>
                <a:latin typeface="Aptos"/>
              </a:rPr>
              <a:t>AVERAGE STAY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304288"/>
            <a:ext cx="1984248" cy="4093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 dirty="0">
                <a:solidFill>
                  <a:srgbClr val="18274B"/>
                </a:solidFill>
                <a:latin typeface="Aptos"/>
              </a:rPr>
              <a:t>6 nights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49039"/>
            <a:ext cx="10332720" cy="21031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rPr dirty="0"/>
              <a:t>•  Revenue is relatively balanced across five hotels and four booking channels.</a:t>
            </a:r>
          </a:p>
          <a:p>
            <a:pPr>
              <a:spcAft>
                <a:spcPts val="12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rPr dirty="0"/>
              <a:t>•  Suites are the largest revenue-generating room category.</a:t>
            </a:r>
          </a:p>
          <a:p>
            <a:pPr>
              <a:spcAft>
                <a:spcPts val="12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rPr dirty="0"/>
              <a:t>•  Cancellations are a key area for further investigation.</a:t>
            </a:r>
          </a:p>
          <a:p>
            <a:pPr>
              <a:spcAft>
                <a:spcPts val="12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rPr dirty="0"/>
              <a:t>•  Recommendations focus on premium-room upselling, cancellation analysis, and channel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Objectives &amp;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From raw booking records to actionable 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8920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29768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C918C"/>
                </a:solidFill>
                <a:latin typeface="Aptos"/>
              </a:rPr>
              <a:t>BUSINESS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4389120" cy="25603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Which hotels and room types generate the most revenue?</a:t>
            </a:r>
          </a:p>
          <a:p>
            <a:pPr>
              <a:spcAft>
                <a:spcPts val="18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How do booking channels and customer segments perform?</a:t>
            </a:r>
          </a:p>
          <a:p>
            <a:pPr>
              <a:spcAft>
                <a:spcPts val="18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Where do cancellations create opportunities?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8920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59" y="2103120"/>
            <a:ext cx="429768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C918C"/>
                </a:solidFill>
                <a:latin typeface="Aptos"/>
              </a:rPr>
              <a:t>ANALYTICAL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743200"/>
            <a:ext cx="4389120" cy="25603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Cleaned and validated booking records in Excel</a:t>
            </a:r>
          </a:p>
          <a:p>
            <a:pPr>
              <a:spcAft>
                <a:spcPts val="18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Calculated revenue and analyzed KPIs with PivotTables</a:t>
            </a:r>
          </a:p>
          <a:p>
            <a:pPr>
              <a:spcAft>
                <a:spcPts val="18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Used SQL Server for aggregation and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Data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Cleaning and validation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132588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975104"/>
            <a:ext cx="2395728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647080"/>
                </a:solidFill>
                <a:latin typeface="Aptos"/>
              </a:rPr>
              <a:t>ORIGINAL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239572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>
                <a:solidFill>
                  <a:srgbClr val="18274B"/>
                </a:solidFill>
                <a:latin typeface="Aptos"/>
              </a:rPr>
              <a:t>~20,000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82880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86200" y="1828800"/>
            <a:ext cx="73152" cy="132588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8" y="1975104"/>
            <a:ext cx="2395728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647080"/>
                </a:solidFill>
                <a:latin typeface="Aptos"/>
              </a:rPr>
              <a:t>CLEAN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2304288"/>
            <a:ext cx="239572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>
                <a:solidFill>
                  <a:srgbClr val="18274B"/>
                </a:solidFill>
                <a:latin typeface="Aptos"/>
              </a:rPr>
              <a:t>19,982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82880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828800"/>
            <a:ext cx="73152" cy="1325880"/>
          </a:xfrm>
          <a:prstGeom prst="rect">
            <a:avLst/>
          </a:prstGeom>
          <a:solidFill>
            <a:srgbClr val="EC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0607" y="1975104"/>
            <a:ext cx="2395728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647080"/>
                </a:solidFill>
                <a:latin typeface="Aptos"/>
              </a:rPr>
              <a:t>DUPLICATE ROWS REMOVED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7" y="2304288"/>
            <a:ext cx="239572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>
                <a:solidFill>
                  <a:srgbClr val="18274B"/>
                </a:solidFill>
                <a:latin typeface="Aptos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10332720" cy="21945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Removed duplicate records and rows with invalid negative Nights or RoomRate values.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Standardized text fields and removed extra spaces from RoomType.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Reviewed missing values and checked dates, booking status, discounts, and ratings.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Retained appropriate missing values as blank rather than inventing replacements.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Booking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Most bookings were completed; cancellations remain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74519"/>
            <a:ext cx="2926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>
                <a:solidFill>
                  <a:srgbClr val="1C918C"/>
                </a:solidFill>
                <a:latin typeface="Aptos"/>
              </a:rPr>
              <a:t>STATUS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23160"/>
            <a:ext cx="3291840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900" b="1">
                <a:solidFill>
                  <a:srgbClr val="18274B"/>
                </a:solidFill>
                <a:latin typeface="Aptos"/>
              </a:rPr>
              <a:t>16,403 completed bookings
2,805 cancelled bookings
774 no-shows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297680"/>
            <a:ext cx="32918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0">
                <a:solidFill>
                  <a:srgbClr val="28303C"/>
                </a:solidFill>
                <a:latin typeface="Aptos"/>
              </a:rPr>
              <a:t>Cancellation rate: 14.04%
No-show rate: 3.87%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0DF8F7-719B-9A8E-BC69-017C24D40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874519"/>
            <a:ext cx="6872339" cy="36455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Revenue by Hotel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Revenue is distributed fairly evenly across the five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011680"/>
            <a:ext cx="3017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55279" y="2011680"/>
            <a:ext cx="73152" cy="1280160"/>
          </a:xfrm>
          <a:prstGeom prst="rect">
            <a:avLst/>
          </a:prstGeom>
          <a:solidFill>
            <a:srgbClr val="EC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56448" y="2157984"/>
            <a:ext cx="2670048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647080"/>
                </a:solidFill>
                <a:latin typeface="Aptos"/>
              </a:rPr>
              <a:t>HIGHEST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487168"/>
            <a:ext cx="267004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>
                <a:solidFill>
                  <a:srgbClr val="18274B"/>
                </a:solidFill>
                <a:latin typeface="Aptos"/>
              </a:rPr>
              <a:t>₹106.74M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980944"/>
            <a:ext cx="2670048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47080"/>
                </a:solidFill>
                <a:latin typeface="Aptos"/>
              </a:rPr>
              <a:t>Grand Palace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5760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C918C"/>
                </a:solidFill>
                <a:latin typeface="Aptos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069080"/>
            <a:ext cx="2834640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0">
                <a:solidFill>
                  <a:srgbClr val="28303C"/>
                </a:solidFill>
                <a:latin typeface="Aptos"/>
              </a:rPr>
              <a:t>The difference between the highest- and lowest-revenue hotels is relatively small. Focus on property-level optimization rather than relying on one hotel.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401720-C08B-A683-4C5B-3A35AB297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35236"/>
            <a:ext cx="6800764" cy="38712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Revenue by Room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Premium room categories are the strongest revenue contributors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" y="1700784"/>
            <a:ext cx="2360086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00784"/>
            <a:ext cx="73152" cy="1325880"/>
          </a:xfrm>
          <a:prstGeom prst="rect">
            <a:avLst/>
          </a:prstGeom>
          <a:solidFill>
            <a:srgbClr val="EC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99744" y="2167128"/>
            <a:ext cx="1462450" cy="4093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 dirty="0">
                <a:solidFill>
                  <a:srgbClr val="18274B"/>
                </a:solidFill>
                <a:latin typeface="Aptos"/>
              </a:rPr>
              <a:t>₹195.19M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77640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dirty="0">
                <a:solidFill>
                  <a:srgbClr val="1C918C"/>
                </a:solidFill>
                <a:latin typeface="Aptos"/>
              </a:rP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08922"/>
            <a:ext cx="10881360" cy="2054409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Aptos" panose="020B0004020202020204" pitchFamily="34" charset="0"/>
              </a:rPr>
              <a:t>Promote Suites and Executive rooms through targeted upselling.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Offer room upgrades during the booking process.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Create premium packages combining rooms with additional services.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Monitor demand before applying discounts to premium rooms.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Use Standard/Deluxe bookings as opportunities for upgrade offers.</a:t>
            </a:r>
          </a:p>
          <a:p>
            <a:pPr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F09CAB56-CE8C-CB43-8856-8F3E89CFBBBC}"/>
              </a:ext>
            </a:extLst>
          </p:cNvPr>
          <p:cNvSpPr/>
          <p:nvPr/>
        </p:nvSpPr>
        <p:spPr>
          <a:xfrm>
            <a:off x="3399110" y="1700784"/>
            <a:ext cx="2490413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₹151.84M</a:t>
            </a:r>
            <a:endParaRPr dirty="0"/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0B265014-362F-8E49-E85E-515D44F5EDD3}"/>
              </a:ext>
            </a:extLst>
          </p:cNvPr>
          <p:cNvSpPr/>
          <p:nvPr/>
        </p:nvSpPr>
        <p:spPr>
          <a:xfrm>
            <a:off x="6400800" y="1700783"/>
            <a:ext cx="2399366" cy="1333955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E5A9C051-4F1D-BCB7-CFCD-2D26CA43BF3E}"/>
              </a:ext>
            </a:extLst>
          </p:cNvPr>
          <p:cNvSpPr/>
          <p:nvPr/>
        </p:nvSpPr>
        <p:spPr>
          <a:xfrm>
            <a:off x="9382334" y="1700783"/>
            <a:ext cx="2399366" cy="1333955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020DD-875B-D1D9-64F2-E1A9BD6F9987}"/>
              </a:ext>
            </a:extLst>
          </p:cNvPr>
          <p:cNvSpPr/>
          <p:nvPr/>
        </p:nvSpPr>
        <p:spPr>
          <a:xfrm>
            <a:off x="3362534" y="1716933"/>
            <a:ext cx="73152" cy="1325880"/>
          </a:xfrm>
          <a:prstGeom prst="rect">
            <a:avLst/>
          </a:prstGeom>
          <a:solidFill>
            <a:srgbClr val="EC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000080"/>
              </a:highligh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A8DE35-933C-C2F7-681E-75E66F7167DB}"/>
              </a:ext>
            </a:extLst>
          </p:cNvPr>
          <p:cNvSpPr/>
          <p:nvPr/>
        </p:nvSpPr>
        <p:spPr>
          <a:xfrm>
            <a:off x="6350213" y="1708858"/>
            <a:ext cx="73152" cy="1325880"/>
          </a:xfrm>
          <a:prstGeom prst="rect">
            <a:avLst/>
          </a:prstGeom>
          <a:solidFill>
            <a:srgbClr val="EC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60E982-83E2-0EC9-ED5F-D247009CC4F1}"/>
              </a:ext>
            </a:extLst>
          </p:cNvPr>
          <p:cNvSpPr/>
          <p:nvPr/>
        </p:nvSpPr>
        <p:spPr>
          <a:xfrm>
            <a:off x="9309182" y="1716933"/>
            <a:ext cx="73152" cy="1325880"/>
          </a:xfrm>
          <a:prstGeom prst="rect">
            <a:avLst/>
          </a:prstGeom>
          <a:solidFill>
            <a:srgbClr val="EC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AEC3C-EA1D-F64A-2981-15347F3BA595}"/>
              </a:ext>
            </a:extLst>
          </p:cNvPr>
          <p:cNvSpPr txBox="1"/>
          <p:nvPr/>
        </p:nvSpPr>
        <p:spPr>
          <a:xfrm>
            <a:off x="3552984" y="2130195"/>
            <a:ext cx="181547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latin typeface="Aptos" panose="020B0004020202020204" pitchFamily="34" charset="0"/>
              </a:rPr>
              <a:t>₹151.84M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8ABF74-720D-ED83-A354-CD5E7C4BEAC5}"/>
              </a:ext>
            </a:extLst>
          </p:cNvPr>
          <p:cNvSpPr txBox="1"/>
          <p:nvPr/>
        </p:nvSpPr>
        <p:spPr>
          <a:xfrm>
            <a:off x="6576381" y="2130195"/>
            <a:ext cx="228231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latin typeface="Aptos" panose="020B0004020202020204" pitchFamily="34" charset="0"/>
              </a:rPr>
              <a:t>₹109.07M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653CA6-A5CD-68F9-2EAF-C756BAA7C26F}"/>
              </a:ext>
            </a:extLst>
          </p:cNvPr>
          <p:cNvSpPr txBox="1"/>
          <p:nvPr/>
        </p:nvSpPr>
        <p:spPr>
          <a:xfrm>
            <a:off x="9440861" y="2130195"/>
            <a:ext cx="158564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latin typeface="Aptos" panose="020B0004020202020204" pitchFamily="34" charset="0"/>
              </a:rPr>
              <a:t>₹69.85M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869086-1663-4545-3B1D-6507194274AE}"/>
              </a:ext>
            </a:extLst>
          </p:cNvPr>
          <p:cNvSpPr txBox="1"/>
          <p:nvPr/>
        </p:nvSpPr>
        <p:spPr>
          <a:xfrm>
            <a:off x="927182" y="1771220"/>
            <a:ext cx="1483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Suite</a:t>
            </a:r>
            <a:endParaRPr lang="en-IN" sz="14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8B04C1-DFBC-EE8B-3CCD-E7230DDF1B26}"/>
              </a:ext>
            </a:extLst>
          </p:cNvPr>
          <p:cNvSpPr txBox="1"/>
          <p:nvPr/>
        </p:nvSpPr>
        <p:spPr>
          <a:xfrm>
            <a:off x="3552984" y="1826809"/>
            <a:ext cx="1483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Executive</a:t>
            </a:r>
            <a:endParaRPr lang="en-IN" sz="14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416392-F0AB-B5C9-A40C-5805EDE9E90B}"/>
              </a:ext>
            </a:extLst>
          </p:cNvPr>
          <p:cNvSpPr txBox="1"/>
          <p:nvPr/>
        </p:nvSpPr>
        <p:spPr>
          <a:xfrm>
            <a:off x="6568440" y="1785083"/>
            <a:ext cx="1483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Deluxe</a:t>
            </a:r>
            <a:endParaRPr lang="en-IN" sz="14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09FBCE-1EC3-5000-F2AB-BC3BE5403417}"/>
              </a:ext>
            </a:extLst>
          </p:cNvPr>
          <p:cNvSpPr txBox="1"/>
          <p:nvPr/>
        </p:nvSpPr>
        <p:spPr>
          <a:xfrm>
            <a:off x="9491792" y="1814343"/>
            <a:ext cx="1483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Standard</a:t>
            </a:r>
            <a:endParaRPr lang="en-IN" sz="14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Booking Channel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Channel revenue and booking volumes are relatively balanced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08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4592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09560" y="1828800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C918C"/>
                </a:solidFill>
                <a:latin typeface="Aptos"/>
              </a:rPr>
              <a:t>What this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331720"/>
            <a:ext cx="3429000" cy="27432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•  Walk-in has the highest revenue at about ₹133.21M.</a:t>
            </a:r>
          </a:p>
          <a:p>
            <a:pPr>
              <a:spcAft>
                <a:spcPts val="14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•  Website revenue is about ₹130.18M.</a:t>
            </a:r>
          </a:p>
          <a:p>
            <a:pPr>
              <a:spcAft>
                <a:spcPts val="14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•  Compare profitability, acquisition cost, cancellation rate, and revenue per booking before shifting channel investment.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Customer Segment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Booking and revenue contributions are similar across customer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09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4592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18120" y="1828800"/>
            <a:ext cx="32004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C918C"/>
                </a:solidFill>
                <a:latin typeface="Aptos"/>
              </a:rPr>
              <a:t>Potential segment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31720"/>
            <a:ext cx="3474720" cy="246888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7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Individual: personalized and weekend offers.</a:t>
            </a:r>
          </a:p>
          <a:p>
            <a:pPr>
              <a:spcAft>
                <a:spcPts val="17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Corporate: business and long-stay packages.</a:t>
            </a:r>
          </a:p>
          <a:p>
            <a:pPr>
              <a:spcAft>
                <a:spcPts val="17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Group: group rates and event packages.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4241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Average stay: Individual ~6 nights | Corporate ~6 nights | Group ~5 nights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Cancellation Rate by Hotel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Use property differences to guide deeper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4592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46720" y="20116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73152" cy="1234440"/>
          </a:xfrm>
          <a:prstGeom prst="rect">
            <a:avLst/>
          </a:prstGeom>
          <a:solidFill>
            <a:srgbClr val="BE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47888" y="2157984"/>
            <a:ext cx="2487168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647080"/>
                </a:solidFill>
                <a:latin typeface="Aptos"/>
              </a:rPr>
              <a:t>HIGHEST CANCELLATION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487168"/>
            <a:ext cx="248716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>
                <a:solidFill>
                  <a:srgbClr val="18274B"/>
                </a:solidFill>
                <a:latin typeface="Aptos"/>
              </a:rPr>
              <a:t>15.08%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935224"/>
            <a:ext cx="2487168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47080"/>
                </a:solidFill>
                <a:latin typeface="Aptos"/>
              </a:rPr>
              <a:t>Grand Palace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657600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C918C"/>
                </a:solidFill>
                <a:latin typeface="Aptos"/>
              </a:rPr>
              <a:t>Next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069080"/>
            <a:ext cx="3200400" cy="155448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•  Compare channel and customer type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•  Check booking lead time and room type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•  Review cancellation policy and payment method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Monthly Revenue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Revenue rose through 2025; 2026 data is available only through April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F9AD5-F4E3-E3B4-8B4C-1722364D1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00783"/>
            <a:ext cx="10881360" cy="39746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Priority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Practical next steps grounded in the observed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09928"/>
            <a:ext cx="502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0200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8274B"/>
                </a:solidFill>
                <a:latin typeface="Aptos"/>
              </a:rPr>
              <a:t>Grow premium-room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6675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28303C"/>
                </a:solidFill>
                <a:latin typeface="Aptos"/>
              </a:rPr>
              <a:t>Promote Suite and Executive upgrades; test packages and add-on services.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96312"/>
            <a:ext cx="502920" cy="502920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502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96312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8274B"/>
                </a:solidFill>
                <a:latin typeface="Aptos"/>
              </a:rPr>
              <a:t>Investigate cancellations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96312"/>
            <a:ext cx="6675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28303C"/>
                </a:solidFill>
                <a:latin typeface="Aptos"/>
              </a:rPr>
              <a:t>Segment cancellation rates by channel, customer type, room type, and booking lead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92424"/>
            <a:ext cx="502920" cy="502920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02152"/>
            <a:ext cx="502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92424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8274B"/>
                </a:solidFill>
                <a:latin typeface="Aptos"/>
              </a:rPr>
              <a:t>Optimize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92424"/>
            <a:ext cx="6675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28303C"/>
                </a:solidFill>
                <a:latin typeface="Aptos"/>
              </a:rPr>
              <a:t>Compare revenue per booking, acquisition cost, cancellation rate, and profitability.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288536"/>
            <a:ext cx="502920" cy="502920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398264"/>
            <a:ext cx="502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88536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8274B"/>
                </a:solidFill>
                <a:latin typeface="Aptos"/>
              </a:rPr>
              <a:t>Personalize 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88536"/>
            <a:ext cx="6675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28303C"/>
                </a:solidFill>
                <a:latin typeface="Aptos"/>
              </a:rPr>
              <a:t>Tailor promotions for Individual, Corporate, and Group customers.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184648"/>
            <a:ext cx="502920" cy="502920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294376"/>
            <a:ext cx="502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84648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8274B"/>
                </a:solidFill>
                <a:latin typeface="Aptos"/>
              </a:rPr>
              <a:t>Monitor demand and 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184648"/>
            <a:ext cx="6675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28303C"/>
                </a:solidFill>
                <a:latin typeface="Aptos"/>
              </a:rPr>
              <a:t>Use occupancy, availability, seasonality, and lead time to inform pricing decisions.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18274B"/>
                </a:solidFill>
                <a:latin typeface="Aptos"/>
              </a:rPr>
              <a:t>Further Analysis &amp;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Validate recommendations with operational and financial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0">
                <a:solidFill>
                  <a:srgbClr val="647080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32004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7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Analyze booking lead time and cancellation behavior.</a:t>
            </a:r>
          </a:p>
          <a:p>
            <a:pPr>
              <a:spcAft>
                <a:spcPts val="17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Compare cancellation rates across channels and customer segments.</a:t>
            </a:r>
          </a:p>
          <a:p>
            <a:pPr>
              <a:spcAft>
                <a:spcPts val="17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Assess occupancy, room utilization, and RevPAR where data is available.</a:t>
            </a:r>
          </a:p>
          <a:p>
            <a:pPr>
              <a:spcAft>
                <a:spcPts val="17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Measure channel profitability after commissions and acquisition costs.</a:t>
            </a:r>
          </a:p>
          <a:p>
            <a:pPr>
              <a:spcAft>
                <a:spcPts val="17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complete-year and comparable-period data to assess seasonality.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96012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ECB148"/>
                </a:solidFill>
                <a:latin typeface="Aptos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9875520" cy="1097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Strong, balanced revenue—with clear opportunities to improve realization.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9692640" cy="1097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900" b="0">
                <a:solidFill>
                  <a:srgbClr val="D2DCEB"/>
                </a:solidFill>
                <a:latin typeface="Aptos"/>
              </a:rPr>
              <a:t>Focus on premium-room upselling, cancellation analysis, customer-specific offers, and evidence-based channel and pricing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1C918C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63640"/>
            <a:ext cx="6858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>
                <a:solidFill>
                  <a:srgbClr val="BECDE1"/>
                </a:solidFill>
                <a:latin typeface="Aptos"/>
              </a:rPr>
              <a:t>Hotel Booking &amp; Revenue Analysis | Excel + SQL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763</Words>
  <Application>Microsoft Office PowerPoint</Application>
  <PresentationFormat>Widescreen</PresentationFormat>
  <Paragraphs>134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Rupashree Chatterjee</cp:lastModifiedBy>
  <cp:revision>3</cp:revision>
  <dcterms:created xsi:type="dcterms:W3CDTF">2013-01-27T09:14:16Z</dcterms:created>
  <dcterms:modified xsi:type="dcterms:W3CDTF">2026-10-27T05:00:34Z</dcterms:modified>
  <cp:category/>
</cp:coreProperties>
</file>